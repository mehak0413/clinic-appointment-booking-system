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9"/>
  </p:notesMasterIdLst>
  <p:sldIdLst>
    <p:sldId id="256" r:id="rId2"/>
    <p:sldId id="261" r:id="rId3"/>
    <p:sldId id="257" r:id="rId4"/>
    <p:sldId id="259" r:id="rId5"/>
    <p:sldId id="258" r:id="rId6"/>
    <p:sldId id="260" r:id="rId7"/>
    <p:sldId id="262" r:id="rId8"/>
    <p:sldId id="268" r:id="rId9"/>
    <p:sldId id="269" r:id="rId10"/>
    <p:sldId id="273" r:id="rId11"/>
    <p:sldId id="274" r:id="rId12"/>
    <p:sldId id="270" r:id="rId13"/>
    <p:sldId id="271" r:id="rId14"/>
    <p:sldId id="272" r:id="rId15"/>
    <p:sldId id="275" r:id="rId16"/>
    <p:sldId id="276" r:id="rId17"/>
    <p:sldId id="267"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1594" y="62"/>
      </p:cViewPr>
      <p:guideLst>
        <p:guide orient="horz" pos="2160"/>
        <p:guide pos="28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2" name="Google Shape;4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8" name="Google Shape;7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9" name="Google Shape;4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3" name="Google Shape;6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6" name="Google Shape;5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0" name="Google Shape;7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5" name="Google Shape;8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7" name="Google Shape;11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7" name="Google Shape;11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8232206ad3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8232206ad3_1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 name="Google Shape;126;g38232206ad3_1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panose="020B0604020202020204"/>
              <a:buNone/>
            </a:pPr>
            <a:fld id="{00000000-1234-1234-1234-123412341234}" type="slidenum">
              <a:rPr lang="en-US"/>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14"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14"/>
          <p:cNvGrpSpPr/>
          <p:nvPr/>
        </p:nvGrpSpPr>
        <p:grpSpPr>
          <a:xfrm>
            <a:off x="6146800" y="0"/>
            <a:ext cx="2997200" cy="876300"/>
            <a:chOff x="6096000" y="3924300"/>
            <a:chExt cx="2997200" cy="876300"/>
          </a:xfrm>
        </p:grpSpPr>
        <p:sp>
          <p:nvSpPr>
            <p:cNvPr id="27" name="Google Shape;27;p14"/>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8" name="Google Shape;28;p14"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14"/>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30" name="Google Shape;30;p14"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1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4"/>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1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
        <p:nvSpPr>
          <p:cNvPr id="15" name="Google Shape;15;p13"/>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16;p13"/>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 name="Google Shape;17;p13"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pic>
        <p:nvPicPr>
          <p:cNvPr id="18" name="Google Shape;18;p13"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grpSp>
        <p:nvGrpSpPr>
          <p:cNvPr id="19" name="Google Shape;19;p13"/>
          <p:cNvGrpSpPr/>
          <p:nvPr/>
        </p:nvGrpSpPr>
        <p:grpSpPr>
          <a:xfrm>
            <a:off x="6146800" y="0"/>
            <a:ext cx="2997200" cy="876300"/>
            <a:chOff x="6096000" y="3924300"/>
            <a:chExt cx="2997200" cy="876300"/>
          </a:xfrm>
        </p:grpSpPr>
        <p:sp>
          <p:nvSpPr>
            <p:cNvPr id="20" name="Google Shape;20;p1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1" name="Google Shape;21;p13" descr="LOGO.gif"/>
            <p:cNvPicPr preferRelativeResize="0"/>
            <p:nvPr/>
          </p:nvPicPr>
          <p:blipFill rotWithShape="1">
            <a:blip r:embed="rId3"/>
            <a:srcRect b="10713"/>
            <a:stretch>
              <a:fillRect/>
            </a:stretch>
          </p:blipFill>
          <p:spPr>
            <a:xfrm>
              <a:off x="6502400" y="4152900"/>
              <a:ext cx="2057400" cy="635000"/>
            </a:xfrm>
            <a:prstGeom prst="rect">
              <a:avLst/>
            </a:prstGeom>
            <a:noFill/>
            <a:ln>
              <a:noFill/>
            </a:ln>
          </p:spPr>
        </p:pic>
        <p:sp>
          <p:nvSpPr>
            <p:cNvPr id="22" name="Google Shape;22;p1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3" name="Google Shape;23;p13" descr="logo.jpg"/>
          <p:cNvPicPr preferRelativeResize="0"/>
          <p:nvPr/>
        </p:nvPicPr>
        <p:blipFill rotWithShape="1">
          <a:blip r:embed="rId4"/>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panose="02020603050405020304"/>
                <a:ea typeface="Times New Roman" panose="02020603050405020304"/>
                <a:cs typeface="Times New Roman" panose="02020603050405020304"/>
                <a:sym typeface="Times New Roman" panose="02020603050405020304"/>
              </a:rPr>
              <a:t>1</a:t>
            </a:fld>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45" name="Google Shape;45;p1"/>
          <p:cNvSpPr txBox="1"/>
          <p:nvPr/>
        </p:nvSpPr>
        <p:spPr>
          <a:xfrm>
            <a:off x="-162701" y="2072400"/>
            <a:ext cx="9144000" cy="4506015"/>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endParaRPr sz="28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endParaRPr sz="36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endParaRPr sz="36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r>
              <a:rPr lang="en-US" altLang="en-IN" sz="36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CLINIC APPOINTMENT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400"/>
              <a:buFont typeface="Arial" panose="020B0604020202020204"/>
              <a:buNone/>
            </a:pPr>
            <a:endParaRPr sz="24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err="1">
                <a:solidFill>
                  <a:schemeClr val="dk2"/>
                </a:solidFill>
                <a:latin typeface="Times New Roman" panose="02020603050405020304"/>
                <a:ea typeface="Times New Roman" panose="02020603050405020304"/>
                <a:cs typeface="Times New Roman" panose="02020603050405020304"/>
                <a:sym typeface="Times New Roman" panose="02020603050405020304"/>
              </a:rPr>
              <a:t>Maridul</a:t>
            </a: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Walia, 2310991</a:t>
            </a:r>
            <a:r>
              <a:rPr lang="en-US" sz="1800" b="1" dirty="0">
                <a:solidFill>
                  <a:schemeClr val="dk2"/>
                </a:solidFill>
                <a:latin typeface="Times New Roman" panose="02020603050405020304"/>
                <a:ea typeface="Times New Roman" panose="02020603050405020304"/>
                <a:cs typeface="Times New Roman" panose="02020603050405020304"/>
                <a:sym typeface="Times New Roman" panose="02020603050405020304"/>
              </a:rPr>
              <a:t>897</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dirty="0">
                <a:solidFill>
                  <a:schemeClr val="dk2"/>
                </a:solidFill>
                <a:latin typeface="Times New Roman" panose="02020603050405020304"/>
                <a:ea typeface="Times New Roman" panose="02020603050405020304"/>
                <a:cs typeface="Times New Roman" panose="02020603050405020304"/>
                <a:sym typeface="Times New Roman" panose="02020603050405020304"/>
              </a:rPr>
              <a:t>Mehak Walia</a:t>
            </a: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2310991901</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dirty="0">
                <a:solidFill>
                  <a:schemeClr val="dk2"/>
                </a:solidFill>
                <a:latin typeface="Times New Roman" panose="02020603050405020304"/>
                <a:ea typeface="Times New Roman" panose="02020603050405020304"/>
                <a:cs typeface="Times New Roman" panose="02020603050405020304"/>
                <a:sym typeface="Times New Roman" panose="02020603050405020304"/>
              </a:rPr>
              <a:t>Michael</a:t>
            </a: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2310991902</a:t>
            </a: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dirty="0">
                <a:solidFill>
                  <a:schemeClr val="dk2"/>
                </a:solidFill>
                <a:latin typeface="Times New Roman" panose="02020603050405020304"/>
                <a:cs typeface="Times New Roman" panose="02020603050405020304"/>
                <a:sym typeface="Times New Roman" panose="02020603050405020304"/>
              </a:rPr>
              <a:t>Ramya,2310992587</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Class Group: G-21</a:t>
            </a:r>
            <a:endParaRPr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Submitted To :                                                                                   Faculty:</a:t>
            </a:r>
            <a:endParaRPr dirty="0"/>
          </a:p>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Mr. Samarth	                                                                                   Dr</a:t>
            </a:r>
            <a:r>
              <a:rPr lang="en-US" sz="1800" b="1" dirty="0">
                <a:solidFill>
                  <a:schemeClr val="dk2"/>
                </a:solidFill>
                <a:latin typeface="Times New Roman" panose="02020603050405020304"/>
                <a:ea typeface="Times New Roman" panose="02020603050405020304"/>
                <a:cs typeface="Times New Roman" panose="02020603050405020304"/>
                <a:sym typeface="Times New Roman" panose="02020603050405020304"/>
              </a:rPr>
              <a:t>. Amandeep Kaur</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Designation</a:t>
            </a:r>
            <a:endParaRPr dirty="0"/>
          </a:p>
          <a:p>
            <a:pPr marL="0" marR="0" lvl="0" indent="0" algn="ctr" rtl="0">
              <a:lnSpc>
                <a:spcPct val="100000"/>
              </a:lnSpc>
              <a:spcBef>
                <a:spcPts val="0"/>
              </a:spcBef>
              <a:spcAft>
                <a:spcPts val="0"/>
              </a:spcAft>
              <a:buClr>
                <a:srgbClr val="000000"/>
              </a:buClr>
              <a:buSzPts val="1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rPr>
              <a:t>Department of Computer Science Engineering</a:t>
            </a:r>
            <a:endParaRPr sz="3200" b="1" i="0" u="none" strike="noStrike" cap="none" dirty="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endParaRPr sz="32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endParaRPr sz="32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4000"/>
              <a:buFont typeface="Arial" panose="020B0604020202020204"/>
              <a:buNone/>
            </a:pPr>
            <a:endParaRPr sz="4000" b="1" i="0" u="none" strike="noStrike" cap="none"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4000"/>
              <a:buFont typeface="Arial" panose="020B0604020202020204"/>
              <a:buNone/>
            </a:pPr>
            <a:endParaRPr sz="4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 name="Google Shape;46;p1"/>
          <p:cNvSpPr txBox="1"/>
          <p:nvPr/>
        </p:nvSpPr>
        <p:spPr>
          <a:xfrm>
            <a:off x="1751196" y="971140"/>
            <a:ext cx="5355281"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1800" b="1"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Advance Programming Concepts</a:t>
            </a:r>
            <a:r>
              <a:rPr lang="en-US" sz="18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 </a:t>
            </a:r>
          </a:p>
          <a:p>
            <a:pPr marL="0" marR="0" lvl="0" indent="0" algn="ctr" rtl="0">
              <a:lnSpc>
                <a:spcPct val="100000"/>
              </a:lnSpc>
              <a:spcBef>
                <a:spcPts val="0"/>
              </a:spcBef>
              <a:spcAft>
                <a:spcPts val="0"/>
              </a:spcAft>
              <a:buClr>
                <a:srgbClr val="000000"/>
              </a:buClr>
              <a:buSzPts val="3200"/>
              <a:buFont typeface="Arial" panose="020B0604020202020204"/>
              <a:buNone/>
            </a:pPr>
            <a:r>
              <a:rPr lang="en-US" sz="18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Project </a:t>
            </a:r>
            <a:endParaRPr sz="1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1" name="Google Shape;81;p6"/>
          <p:cNvSpPr txBox="1">
            <a:spLocks noGrp="1"/>
          </p:cNvSpPr>
          <p:nvPr>
            <p:ph type="body" idx="1"/>
          </p:nvPr>
        </p:nvSpPr>
        <p:spPr>
          <a:xfrm>
            <a:off x="353320" y="1186697"/>
            <a:ext cx="8437360" cy="5292048"/>
          </a:xfrm>
          <a:prstGeom prst="rect">
            <a:avLst/>
          </a:prstGeom>
          <a:noFill/>
          <a:ln>
            <a:noFill/>
          </a:ln>
        </p:spPr>
        <p:txBody>
          <a:bodyPr spcFirstLastPara="1" wrap="square" lIns="91425" tIns="45700" rIns="91425" bIns="45700" anchor="t" anchorCtr="0">
            <a:noAutofit/>
          </a:bodyPr>
          <a:lstStyle/>
          <a:p>
            <a:pPr marL="114300" indent="0" algn="ctr">
              <a:buNone/>
            </a:pPr>
            <a:r>
              <a:rPr lang="en-US" sz="2800" b="1" i="1" u="sng" dirty="0">
                <a:latin typeface="Times New Roman" panose="02020603050405020304" pitchFamily="18" charset="0"/>
                <a:cs typeface="Times New Roman" panose="02020603050405020304" pitchFamily="18" charset="0"/>
              </a:rPr>
              <a:t>Problem Statement</a:t>
            </a:r>
          </a:p>
          <a:p>
            <a:pPr marL="114300" indent="0" algn="just">
              <a:buNone/>
            </a:pPr>
            <a:endParaRPr lang="en-US" sz="2000" dirty="0">
              <a:latin typeface="Times New Roman" panose="02020603050405020304" pitchFamily="18" charset="0"/>
              <a:cs typeface="Times New Roman" panose="02020603050405020304" pitchFamily="18" charset="0"/>
            </a:endParaRPr>
          </a:p>
          <a:p>
            <a:r>
              <a:rPr lang="en-IN" sz="1600" dirty="0"/>
              <a:t>Clinics face multiple operational challenges:</a:t>
            </a:r>
          </a:p>
          <a:p>
            <a:pPr lvl="0"/>
            <a:r>
              <a:rPr lang="en-IN" sz="1600" b="1" dirty="0"/>
              <a:t>Appointment Scheduling Issues:</a:t>
            </a:r>
            <a:r>
              <a:rPr lang="en-IN" sz="1600" dirty="0"/>
              <a:t> Manual tracking often results in double-bookings and missed appointments.</a:t>
            </a:r>
          </a:p>
          <a:p>
            <a:pPr lvl="0"/>
            <a:r>
              <a:rPr lang="en-IN" sz="1600" b="1" dirty="0"/>
              <a:t>Prescription Mismanagement:</a:t>
            </a:r>
            <a:r>
              <a:rPr lang="en-IN" sz="1600" dirty="0"/>
              <a:t> Handwritten or disconnected systems can cause medication errors and loss of records.</a:t>
            </a:r>
          </a:p>
          <a:p>
            <a:pPr lvl="0"/>
            <a:r>
              <a:rPr lang="en-IN" sz="1600" b="1" dirty="0"/>
              <a:t>Limited Administrative Oversight:</a:t>
            </a:r>
            <a:r>
              <a:rPr lang="en-IN" sz="1600" dirty="0"/>
              <a:t> Admins struggle with manual reporting and monitoring staff performance.</a:t>
            </a:r>
          </a:p>
          <a:p>
            <a:pPr lvl="0"/>
            <a:r>
              <a:rPr lang="en-IN" sz="1600" b="1" dirty="0"/>
              <a:t>Data Security &amp; Accessibility:</a:t>
            </a:r>
            <a:r>
              <a:rPr lang="en-IN" sz="1600" dirty="0"/>
              <a:t> Ensuring data privacy and accessibility in manual or semi-digital systems is difficult.</a:t>
            </a:r>
          </a:p>
          <a:p>
            <a:r>
              <a:rPr lang="en-IN" sz="1600" dirty="0"/>
              <a:t>CAPMS addresses these issues by providing a </a:t>
            </a:r>
            <a:r>
              <a:rPr lang="en-IN" sz="1600" b="1" dirty="0"/>
              <a:t>secure, scalable, and fully automated system</a:t>
            </a:r>
            <a:r>
              <a:rPr lang="en-IN" sz="1600" dirty="0"/>
              <a:t>. It improves scheduling accuracy, prescription tracking, administrative control, and overall operational efficiency</a:t>
            </a:r>
          </a:p>
        </p:txBody>
      </p:sp>
      <p:sp>
        <p:nvSpPr>
          <p:cNvPr id="82" name="Google Shape;8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1038525" y="0"/>
            <a:ext cx="5458500" cy="819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3200" b="1" dirty="0">
                <a:solidFill>
                  <a:srgbClr val="0C0C0C"/>
                </a:solidFill>
                <a:latin typeface="Times New Roman" panose="02020603050405020304"/>
                <a:ea typeface="Times New Roman" panose="02020603050405020304"/>
                <a:cs typeface="Times New Roman" panose="02020603050405020304"/>
                <a:sym typeface="Times New Roman" panose="02020603050405020304"/>
              </a:rPr>
              <a:t>Introduction</a:t>
            </a:r>
            <a:endParaRPr sz="5000" b="1"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 name="Google Shape;52;p2"/>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endParaRPr lang="en-US" sz="2400" b="1" i="1" u="sng" dirty="0">
              <a:latin typeface="Times New Roman" panose="02020603050405020304" pitchFamily="18" charset="0"/>
              <a:cs typeface="Times New Roman" panose="02020603050405020304" pitchFamily="18" charset="0"/>
            </a:endParaRPr>
          </a:p>
          <a:p>
            <a:pPr marL="114300" lvl="0" indent="0" algn="ctr" rtl="0">
              <a:lnSpc>
                <a:spcPct val="100000"/>
              </a:lnSpc>
              <a:spcBef>
                <a:spcPts val="360"/>
              </a:spcBef>
              <a:spcAft>
                <a:spcPts val="0"/>
              </a:spcAft>
              <a:buSzPts val="1800"/>
              <a:buNone/>
            </a:pPr>
            <a:endParaRPr sz="1600" dirty="0">
              <a:latin typeface="Times New Roman" panose="02020603050405020304" pitchFamily="18" charset="0"/>
              <a:cs typeface="Times New Roman" panose="02020603050405020304" pitchFamily="18" charset="0"/>
            </a:endParaRPr>
          </a:p>
          <a:p>
            <a:r>
              <a:rPr lang="en-IN" sz="1600" b="1" dirty="0"/>
              <a:t>Clinic Appointment and Prescription Management System (CAPMS)</a:t>
            </a:r>
            <a:r>
              <a:rPr lang="en-IN" sz="1600" dirty="0"/>
              <a:t> is a modern healthcare management web application designed using a </a:t>
            </a:r>
            <a:r>
              <a:rPr lang="en-IN" sz="1600" b="1" dirty="0"/>
              <a:t>microservices architecture</a:t>
            </a:r>
            <a:r>
              <a:rPr lang="en-IN" sz="1600" dirty="0"/>
              <a:t> with the </a:t>
            </a:r>
            <a:r>
              <a:rPr lang="en-IN" sz="1600" b="1" dirty="0"/>
              <a:t>Spring Boot framework</a:t>
            </a:r>
            <a:r>
              <a:rPr lang="en-IN" sz="1600" dirty="0"/>
              <a:t>. The platform connects patients, doctors, and administrators through an intuitive interface for scheduling appointments, issuing prescriptions, and managing clinical operations. The system is composed of three core microservices: </a:t>
            </a:r>
            <a:r>
              <a:rPr lang="en-IN" sz="1600" b="1" dirty="0"/>
              <a:t>Authentication Service</a:t>
            </a:r>
            <a:r>
              <a:rPr lang="en-IN" sz="1600" dirty="0"/>
              <a:t> for user registration and secure role-based login, </a:t>
            </a:r>
            <a:r>
              <a:rPr lang="en-IN" sz="1600" b="1" dirty="0"/>
              <a:t>Appointment Service</a:t>
            </a:r>
            <a:r>
              <a:rPr lang="en-IN" sz="1600" dirty="0"/>
              <a:t> for managing doctor-patient scheduling, and </a:t>
            </a:r>
            <a:r>
              <a:rPr lang="en-IN" sz="1600" b="1" dirty="0"/>
              <a:t>Prescription Service</a:t>
            </a:r>
            <a:r>
              <a:rPr lang="en-IN" sz="1600" dirty="0"/>
              <a:t> for digital prescription handling and patient health tracking. </a:t>
            </a:r>
            <a:r>
              <a:rPr lang="en-IN" sz="1600" b="1" dirty="0"/>
              <a:t>MySQL</a:t>
            </a:r>
            <a:r>
              <a:rPr lang="en-IN" sz="1600" dirty="0"/>
              <a:t> serves as the primary database, chosen for its relational integrity and strong query optimization. The frontend is developed with </a:t>
            </a:r>
            <a:r>
              <a:rPr lang="en-IN" sz="1600" b="1" dirty="0" err="1"/>
              <a:t>Thymeleaf</a:t>
            </a:r>
            <a:r>
              <a:rPr lang="en-IN" sz="1600" b="1" dirty="0"/>
              <a:t> templates and Tailwind</a:t>
            </a:r>
            <a:r>
              <a:rPr lang="en-IN" sz="1600" dirty="0"/>
              <a:t> for responsive, cross-platform user experiences.</a:t>
            </a:r>
          </a:p>
          <a:p>
            <a:r>
              <a:rPr lang="en-IN" sz="1600" dirty="0"/>
              <a:t>The platform allows patients to register, view doctor profiles, book appointments, and access prescriptions digitally. Doctors can manage their availability, confirm appointments, generate prescriptions, and review patient medical histories. Administrators oversee user management, monitor appointments, and generate reports via a dedicated dashboard. Security is enforced using </a:t>
            </a:r>
            <a:r>
              <a:rPr lang="en-IN" sz="1600" b="1" dirty="0"/>
              <a:t>JWT-based &amp; Session-based authentication, </a:t>
            </a:r>
            <a:r>
              <a:rPr lang="en-IN" sz="1600" b="1" dirty="0" err="1"/>
              <a:t>BCrypt</a:t>
            </a:r>
            <a:r>
              <a:rPr lang="en-IN" sz="1600" b="1" dirty="0"/>
              <a:t> password encryption, and role-based access control</a:t>
            </a:r>
            <a:r>
              <a:rPr lang="en-IN" sz="1600" dirty="0"/>
              <a:t>.</a:t>
            </a:r>
          </a:p>
        </p:txBody>
      </p:sp>
      <p:sp>
        <p:nvSpPr>
          <p:cNvPr id="53" name="Google Shape;53;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title"/>
          </p:nvPr>
        </p:nvSpPr>
        <p:spPr>
          <a:xfrm>
            <a:off x="0" y="0"/>
            <a:ext cx="46575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dirty="0">
                <a:solidFill>
                  <a:srgbClr val="0C0C0C"/>
                </a:solidFill>
                <a:latin typeface="Times New Roman" panose="02020603050405020304"/>
                <a:ea typeface="Times New Roman" panose="02020603050405020304"/>
                <a:cs typeface="Times New Roman" panose="02020603050405020304"/>
                <a:sym typeface="Times New Roman" panose="02020603050405020304"/>
              </a:rPr>
              <a:t>Features</a:t>
            </a:r>
            <a:endParaRPr sz="4800" b="1"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 name="Google Shape;66;p4"/>
          <p:cNvSpPr txBox="1">
            <a:spLocks noGrp="1"/>
          </p:cNvSpPr>
          <p:nvPr>
            <p:ph type="body" idx="1"/>
          </p:nvPr>
        </p:nvSpPr>
        <p:spPr>
          <a:xfrm>
            <a:off x="149901" y="915215"/>
            <a:ext cx="8844197" cy="5292048"/>
          </a:xfrm>
          <a:prstGeom prst="rect">
            <a:avLst/>
          </a:prstGeom>
          <a:noFill/>
          <a:ln>
            <a:noFill/>
          </a:ln>
        </p:spPr>
        <p:txBody>
          <a:bodyPr spcFirstLastPara="1" wrap="square" lIns="91425" tIns="45700" rIns="91425" bIns="45700" anchor="t" anchorCtr="0">
            <a:noAutofit/>
          </a:bodyPr>
          <a:lstStyle/>
          <a:p>
            <a:pPr marL="114300" indent="0" algn="ctr">
              <a:buNone/>
            </a:pPr>
            <a:endParaRPr lang="en-IN" sz="2400" b="1" i="1" u="sng" dirty="0">
              <a:latin typeface="Times New Roman" panose="02020603050405020304" pitchFamily="18" charset="0"/>
              <a:cs typeface="Times New Roman" panose="02020603050405020304" pitchFamily="18" charset="0"/>
            </a:endParaRPr>
          </a:p>
          <a:p>
            <a:pPr marL="114300" indent="0" algn="ctr">
              <a:buNone/>
            </a:pPr>
            <a:endParaRPr lang="en-IN" sz="2400" b="1" i="1" u="sng" dirty="0">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p:txBody>
      </p:sp>
      <p:sp>
        <p:nvSpPr>
          <p:cNvPr id="67" name="Google Shape;67;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lang="en-US"/>
          </a:p>
        </p:txBody>
      </p:sp>
      <p:sp>
        <p:nvSpPr>
          <p:cNvPr id="7" name="Rectangle 5">
            <a:extLst>
              <a:ext uri="{FF2B5EF4-FFF2-40B4-BE49-F238E27FC236}">
                <a16:creationId xmlns:a16="http://schemas.microsoft.com/office/drawing/2014/main" id="{85581CA7-AF1E-EADC-B836-FA4B99CCADE4}"/>
              </a:ext>
            </a:extLst>
          </p:cNvPr>
          <p:cNvSpPr>
            <a:spLocks noChangeArrowheads="1"/>
          </p:cNvSpPr>
          <p:nvPr/>
        </p:nvSpPr>
        <p:spPr bwMode="auto">
          <a:xfrm>
            <a:off x="149901" y="2304335"/>
            <a:ext cx="838242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Spring Boot, JPA/Hibernate, REST APIs, Spring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Thymeleaf</a:t>
            </a:r>
            <a:r>
              <a:rPr kumimoji="0" lang="en-US" altLang="en-US" sz="1800" b="0" i="0" u="none" strike="noStrike" cap="none" normalizeH="0" baseline="0" dirty="0">
                <a:ln>
                  <a:noFill/>
                </a:ln>
                <a:solidFill>
                  <a:schemeClr val="tx1"/>
                </a:solidFill>
                <a:effectLst/>
                <a:latin typeface="Arial" panose="020B0604020202020204" pitchFamily="34" charset="0"/>
              </a:rPr>
              <a:t>, HTML5, Tailwind, JavaScript, AJAX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MySQL (relational), MongoDB (for some services), </a:t>
            </a:r>
            <a:r>
              <a:rPr kumimoji="0" lang="en-US" altLang="en-US" sz="1800" b="0" i="0" u="none" strike="noStrike" cap="none" normalizeH="0" baseline="0" dirty="0" err="1">
                <a:ln>
                  <a:noFill/>
                </a:ln>
                <a:solidFill>
                  <a:schemeClr val="tx1"/>
                </a:solidFill>
                <a:effectLst/>
                <a:latin typeface="Arial" panose="020B0604020202020204" pitchFamily="34" charset="0"/>
              </a:rPr>
              <a:t>HikariCP</a:t>
            </a:r>
            <a:r>
              <a:rPr kumimoji="0" lang="en-US" altLang="en-US" sz="1800" b="0" i="0" u="none" strike="noStrike" cap="none" normalizeH="0" baseline="0" dirty="0">
                <a:ln>
                  <a:noFill/>
                </a:ln>
                <a:solidFill>
                  <a:schemeClr val="tx1"/>
                </a:solidFill>
                <a:effectLst/>
                <a:latin typeface="Arial" panose="020B0604020202020204" pitchFamily="34" charset="0"/>
              </a:rPr>
              <a:t> pooling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Architecture:</a:t>
            </a:r>
            <a:r>
              <a:rPr kumimoji="0" lang="en-US" altLang="en-US" sz="1800" b="0" i="0" u="none" strike="noStrike" cap="none" normalizeH="0" baseline="0" dirty="0">
                <a:ln>
                  <a:noFill/>
                </a:ln>
                <a:solidFill>
                  <a:schemeClr val="tx1"/>
                </a:solidFill>
                <a:effectLst/>
                <a:latin typeface="Arial" panose="020B0604020202020204" pitchFamily="34" charset="0"/>
              </a:rPr>
              <a:t> Microservices, API Gateway, Eureka (service discovery)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a:t>
            </a:r>
            <a:r>
              <a:rPr kumimoji="0" lang="en-US" altLang="en-US" sz="1800" b="0" i="0" u="none" strike="noStrike" cap="none" normalizeH="0" baseline="0" dirty="0">
                <a:ln>
                  <a:noFill/>
                </a:ln>
                <a:solidFill>
                  <a:schemeClr val="tx1"/>
                </a:solidFill>
                <a:effectLst/>
                <a:latin typeface="Arial" panose="020B0604020202020204" pitchFamily="34" charset="0"/>
              </a:rPr>
              <a:t> JWT authentication, </a:t>
            </a:r>
            <a:r>
              <a:rPr kumimoji="0" lang="en-US" altLang="en-US" sz="1800" b="0" i="0" u="none" strike="noStrike" cap="none" normalizeH="0" baseline="0" dirty="0" err="1">
                <a:ln>
                  <a:noFill/>
                </a:ln>
                <a:solidFill>
                  <a:schemeClr val="tx1"/>
                </a:solidFill>
                <a:effectLst/>
                <a:latin typeface="Arial" panose="020B0604020202020204" pitchFamily="34" charset="0"/>
              </a:rPr>
              <a:t>BCrypt</a:t>
            </a:r>
            <a:r>
              <a:rPr kumimoji="0" lang="en-US" altLang="en-US" sz="1800" b="0" i="0" u="none" strike="noStrike" cap="none" normalizeH="0" baseline="0" dirty="0">
                <a:ln>
                  <a:noFill/>
                </a:ln>
                <a:solidFill>
                  <a:schemeClr val="tx1"/>
                </a:solidFill>
                <a:effectLst/>
                <a:latin typeface="Arial" panose="020B0604020202020204" pitchFamily="34" charset="0"/>
              </a:rPr>
              <a:t> encryption, role-based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Testing:</a:t>
            </a:r>
            <a:r>
              <a:rPr kumimoji="0" lang="en-US" altLang="en-US" sz="1800" b="0" i="0" u="none" strike="noStrike" cap="none" normalizeH="0" baseline="0" dirty="0">
                <a:ln>
                  <a:noFill/>
                </a:ln>
                <a:solidFill>
                  <a:schemeClr val="tx1"/>
                </a:solidFill>
                <a:effectLst/>
                <a:latin typeface="Arial" panose="020B0604020202020204" pitchFamily="34" charset="0"/>
              </a:rPr>
              <a:t> JUnit, Mockito, Spring Boot Test, Postman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 Tools:</a:t>
            </a:r>
            <a:r>
              <a:rPr kumimoji="0" lang="en-US" altLang="en-US" sz="1800" b="0" i="0" u="none" strike="noStrike" cap="none" normalizeH="0" baseline="0" dirty="0">
                <a:ln>
                  <a:noFill/>
                </a:ln>
                <a:solidFill>
                  <a:schemeClr val="tx1"/>
                </a:solidFill>
                <a:effectLst/>
                <a:latin typeface="Arial" panose="020B0604020202020204" pitchFamily="34" charset="0"/>
              </a:rPr>
              <a:t> Maven, Git, </a:t>
            </a:r>
            <a:r>
              <a:rPr kumimoji="0" lang="en-US" altLang="en-US" sz="1800" b="0" i="0" u="none" strike="noStrike" cap="none" normalizeH="0" baseline="0" dirty="0" err="1">
                <a:ln>
                  <a:noFill/>
                </a:ln>
                <a:solidFill>
                  <a:schemeClr val="tx1"/>
                </a:solidFill>
                <a:effectLst/>
                <a:latin typeface="Arial" panose="020B0604020202020204" pitchFamily="34" charset="0"/>
              </a:rPr>
              <a:t>VSCode</a:t>
            </a:r>
            <a:r>
              <a:rPr kumimoji="0" lang="en-US" altLang="en-US" sz="1800" b="0" i="0" u="none" strike="noStrike" cap="none" normalizeH="0" baseline="0" dirty="0">
                <a:ln>
                  <a:noFill/>
                </a:ln>
                <a:solidFill>
                  <a:schemeClr val="tx1"/>
                </a:solidFill>
                <a:effectLst/>
                <a:latin typeface="Arial" panose="020B0604020202020204" pitchFamily="34" charset="0"/>
              </a:rPr>
              <a:t>, Postman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Logging &amp; Error Handling: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Logback</a:t>
            </a:r>
            <a:r>
              <a:rPr kumimoji="0" lang="en-US" altLang="en-US" sz="1800" b="0" i="0" u="none" strike="noStrike" cap="none" normalizeH="0" baseline="0" dirty="0">
                <a:ln>
                  <a:noFill/>
                </a:ln>
                <a:solidFill>
                  <a:schemeClr val="tx1"/>
                </a:solidFill>
                <a:effectLst/>
                <a:latin typeface="Arial" panose="020B0604020202020204" pitchFamily="34" charset="0"/>
              </a:rPr>
              <a:t>, global exception handling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0" y="0"/>
            <a:ext cx="45177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a:solidFill>
                  <a:srgbClr val="0C0C0C"/>
                </a:solidFill>
                <a:latin typeface="Times New Roman" panose="02020603050405020304"/>
                <a:ea typeface="Times New Roman" panose="02020603050405020304"/>
                <a:cs typeface="Times New Roman" panose="02020603050405020304"/>
                <a:sym typeface="Times New Roman" panose="02020603050405020304"/>
              </a:rPr>
              <a:t>Features</a:t>
            </a:r>
            <a:endParaRPr sz="4800" b="1">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 name="Google Shape;59;p3"/>
          <p:cNvSpPr txBox="1">
            <a:spLocks noGrp="1"/>
          </p:cNvSpPr>
          <p:nvPr>
            <p:ph type="body" idx="1"/>
          </p:nvPr>
        </p:nvSpPr>
        <p:spPr>
          <a:xfrm>
            <a:off x="149841" y="1064352"/>
            <a:ext cx="8844300" cy="5292000"/>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endParaRPr lang="en-IN" sz="1000" b="1" dirty="0">
              <a:latin typeface="Times New Roman" panose="02020603050405020304" pitchFamily="18" charset="0"/>
              <a:cs typeface="Times New Roman" panose="02020603050405020304" pitchFamily="18" charset="0"/>
            </a:endParaRPr>
          </a:p>
        </p:txBody>
      </p:sp>
      <p:sp>
        <p:nvSpPr>
          <p:cNvPr id="60" name="Google Shape;6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lang="en-US"/>
          </a:p>
        </p:txBody>
      </p:sp>
      <p:sp>
        <p:nvSpPr>
          <p:cNvPr id="2" name="Rectangle 1"/>
          <p:cNvSpPr>
            <a:spLocks noChangeArrowheads="1"/>
          </p:cNvSpPr>
          <p:nvPr/>
        </p:nvSpPr>
        <p:spPr bwMode="auto">
          <a:xfrm flipV="1">
            <a:off x="273759" y="3392281"/>
            <a:ext cx="7704771" cy="111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200000"/>
              </a:lnSpc>
              <a:spcBef>
                <a:spcPct val="0"/>
              </a:spcBef>
              <a:spcAft>
                <a:spcPct val="0"/>
              </a:spcAft>
              <a:buClrTx/>
              <a:buSzTx/>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70BA8BA0-FFD4-E92F-F9A7-362CAB6D39F3}"/>
              </a:ext>
            </a:extLst>
          </p:cNvPr>
          <p:cNvSpPr>
            <a:spLocks noChangeArrowheads="1"/>
          </p:cNvSpPr>
          <p:nvPr/>
        </p:nvSpPr>
        <p:spPr bwMode="auto">
          <a:xfrm>
            <a:off x="273759" y="1773986"/>
            <a:ext cx="815094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Authentication &amp; Security</a:t>
            </a:r>
            <a:r>
              <a:rPr kumimoji="0" lang="en-US" altLang="en-US" sz="1800" b="0" i="0" u="none" strike="noStrike" cap="none" normalizeH="0" baseline="0" dirty="0">
                <a:ln>
                  <a:noFill/>
                </a:ln>
                <a:solidFill>
                  <a:schemeClr val="tx1"/>
                </a:solidFill>
                <a:effectLst/>
                <a:latin typeface="Arial" panose="020B0604020202020204" pitchFamily="34" charset="0"/>
              </a:rPr>
              <a:t> – JWT login</a:t>
            </a:r>
            <a:r>
              <a:rPr lang="en-US" altLang="en-US" sz="1800" dirty="0">
                <a:solidFill>
                  <a:schemeClr val="tx1"/>
                </a:solidFill>
                <a:latin typeface="Arial" panose="020B0604020202020204" pitchFamily="34" charset="0"/>
              </a:rPr>
              <a:t> and Session-based authentication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BCrypt</a:t>
            </a:r>
            <a:r>
              <a:rPr kumimoji="0" lang="en-US" altLang="en-US" sz="1800" b="0" i="0" u="none" strike="noStrike" cap="none" normalizeH="0" baseline="0" dirty="0">
                <a:ln>
                  <a:noFill/>
                </a:ln>
                <a:solidFill>
                  <a:schemeClr val="tx1"/>
                </a:solidFill>
                <a:effectLst/>
                <a:latin typeface="Arial" panose="020B0604020202020204" pitchFamily="34" charset="0"/>
              </a:rPr>
              <a:t> password encryption, role-based access.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Management</a:t>
            </a:r>
            <a:r>
              <a:rPr kumimoji="0" lang="en-US" altLang="en-US" sz="1800" b="0" i="0" u="none" strike="noStrike" cap="none" normalizeH="0" baseline="0" dirty="0">
                <a:ln>
                  <a:noFill/>
                </a:ln>
                <a:solidFill>
                  <a:schemeClr val="tx1"/>
                </a:solidFill>
                <a:effectLst/>
                <a:latin typeface="Arial" panose="020B0604020202020204" pitchFamily="34" charset="0"/>
              </a:rPr>
              <a:t> – CRUD for doctors/patients, dashboards, profiles.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Appointments &amp; Prescriptions</a:t>
            </a:r>
            <a:r>
              <a:rPr kumimoji="0" lang="en-US" altLang="en-US" sz="1800" b="0" i="0" u="none" strike="noStrike" cap="none" normalizeH="0" baseline="0" dirty="0">
                <a:ln>
                  <a:noFill/>
                </a:ln>
                <a:solidFill>
                  <a:schemeClr val="tx1"/>
                </a:solidFill>
                <a:effectLst/>
                <a:latin typeface="Arial" panose="020B0604020202020204" pitchFamily="34" charset="0"/>
              </a:rPr>
              <a:t> – Scheduling, status updates, prescription tracking/history.</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 Responsive UI with </a:t>
            </a:r>
            <a:r>
              <a:rPr kumimoji="0" lang="en-US" altLang="en-US" sz="1800" b="0" i="0" u="none" strike="noStrike" cap="none" normalizeH="0" baseline="0" dirty="0" err="1">
                <a:ln>
                  <a:noFill/>
                </a:ln>
                <a:solidFill>
                  <a:schemeClr val="tx1"/>
                </a:solidFill>
                <a:effectLst/>
                <a:latin typeface="Arial" panose="020B0604020202020204" pitchFamily="34" charset="0"/>
              </a:rPr>
              <a:t>Thymeleaf</a:t>
            </a:r>
            <a:r>
              <a:rPr kumimoji="0" lang="en-US" altLang="en-US" sz="1800" b="0" i="0" u="none" strike="noStrike" cap="none" normalizeH="0" baseline="0" dirty="0">
                <a:ln>
                  <a:noFill/>
                </a:ln>
                <a:solidFill>
                  <a:schemeClr val="tx1"/>
                </a:solidFill>
                <a:effectLst/>
                <a:latin typeface="Arial" panose="020B0604020202020204" pitchFamily="34" charset="0"/>
              </a:rPr>
              <a:t> + Tailwind</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 (Microservices)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Prescrption</a:t>
            </a:r>
            <a:r>
              <a:rPr kumimoji="0" lang="en-US" altLang="en-US" sz="1800" b="0" i="0" u="none" strike="noStrike" cap="none" normalizeH="0" baseline="0" dirty="0">
                <a:ln>
                  <a:noFill/>
                </a:ln>
                <a:solidFill>
                  <a:schemeClr val="tx1"/>
                </a:solidFill>
                <a:effectLst/>
                <a:latin typeface="Arial" panose="020B0604020202020204" pitchFamily="34" charset="0"/>
              </a:rPr>
              <a:t>-History</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 MySQL, optimized with indexing and relationships.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Error Handling &amp; Logging</a:t>
            </a:r>
            <a:r>
              <a:rPr kumimoji="0" lang="en-US" altLang="en-US" sz="1800" b="0" i="0" u="none" strike="noStrike" cap="none" normalizeH="0" baseline="0" dirty="0">
                <a:ln>
                  <a:noFill/>
                </a:ln>
                <a:solidFill>
                  <a:schemeClr val="tx1"/>
                </a:solidFill>
                <a:effectLst/>
                <a:latin typeface="Arial" panose="020B0604020202020204" pitchFamily="34" charset="0"/>
              </a:rPr>
              <a:t> – Global exception handling, custom errors, standardized responses.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4" name="Google Shape;74;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lang="en-US"/>
          </a:p>
        </p:txBody>
      </p:sp>
      <p:sp>
        <p:nvSpPr>
          <p:cNvPr id="3" name="Text Placeholder 2"/>
          <p:cNvSpPr>
            <a:spLocks noGrp="1" noChangeArrowheads="1"/>
          </p:cNvSpPr>
          <p:nvPr>
            <p:ph type="body" idx="1"/>
          </p:nvPr>
        </p:nvSpPr>
        <p:spPr bwMode="auto">
          <a:xfrm>
            <a:off x="651053" y="647631"/>
            <a:ext cx="7922361" cy="692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None/>
            </a:pPr>
            <a:endParaRPr lang="en-US" altLang="en-US" sz="2400" b="1" i="1" u="sng"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None/>
            </a:pPr>
            <a:endParaRPr lang="en-US" altLang="en-US" sz="2400" b="1" i="1" u="sng"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None/>
            </a:pPr>
            <a:r>
              <a:rPr lang="en-US" altLang="en-US" sz="2400" b="1" i="1" u="sng" dirty="0">
                <a:solidFill>
                  <a:schemeClr val="tx1"/>
                </a:solidFill>
                <a:latin typeface="Times New Roman" panose="02020603050405020304" pitchFamily="18" charset="0"/>
                <a:cs typeface="Times New Roman" panose="02020603050405020304" pitchFamily="18" charset="0"/>
              </a:rPr>
              <a:t>Tech stack</a:t>
            </a:r>
          </a:p>
          <a:p>
            <a:pPr marL="0" marR="0" lvl="0" indent="0" algn="ctr" defTabSz="914400" rtl="0" eaLnBrk="0" fontAlgn="base" latinLnBrk="0" hangingPunct="0">
              <a:lnSpc>
                <a:spcPct val="100000"/>
              </a:lnSpc>
              <a:spcBef>
                <a:spcPct val="0"/>
              </a:spcBef>
              <a:spcAft>
                <a:spcPct val="0"/>
              </a:spcAft>
              <a:buClrTx/>
              <a:buSzTx/>
              <a:buNone/>
            </a:pPr>
            <a:endParaRPr lang="en-US" altLang="en-US" sz="2400" b="1" i="1" u="sng"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None/>
            </a:pPr>
            <a:endParaRPr lang="en-US" altLang="en-US" sz="2400" b="1" i="1" u="sng"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Backend:</a:t>
            </a:r>
            <a:r>
              <a:rPr lang="en-US" altLang="en-US" sz="2000" dirty="0">
                <a:solidFill>
                  <a:schemeClr val="tx1"/>
                </a:solidFill>
                <a:latin typeface="Times New Roman" panose="02020603050405020304" pitchFamily="18" charset="0"/>
                <a:cs typeface="Times New Roman" panose="02020603050405020304" pitchFamily="18" charset="0"/>
              </a:rPr>
              <a:t> Java, Spring Boot, Spring Security, JWT</a:t>
            </a:r>
          </a:p>
          <a:p>
            <a:pPr marL="0" lvl="0" indent="0" eaLnBrk="0" fontAlgn="base" hangingPunct="0">
              <a:lnSpc>
                <a:spcPct val="150000"/>
              </a:lnSpc>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Frontend:</a:t>
            </a:r>
            <a:r>
              <a:rPr lang="en-US" altLang="en-US" sz="2000" dirty="0">
                <a:solidFill>
                  <a:schemeClr val="tx1"/>
                </a:solidFill>
                <a:latin typeface="Times New Roman" panose="02020603050405020304" pitchFamily="18" charset="0"/>
                <a:cs typeface="Times New Roman" panose="02020603050405020304" pitchFamily="18" charset="0"/>
              </a:rPr>
              <a:t> HTML5, Tailwind, JS, Ajax</a:t>
            </a:r>
          </a:p>
          <a:p>
            <a:pPr marL="0" lvl="0" indent="0" eaLnBrk="0" fontAlgn="base" hangingPunct="0">
              <a:lnSpc>
                <a:spcPct val="150000"/>
              </a:lnSpc>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Database:</a:t>
            </a:r>
            <a:r>
              <a:rPr lang="en-US" altLang="en-US" sz="2000" dirty="0">
                <a:solidFill>
                  <a:schemeClr val="tx1"/>
                </a:solidFill>
                <a:latin typeface="Times New Roman" panose="02020603050405020304" pitchFamily="18" charset="0"/>
                <a:cs typeface="Times New Roman" panose="02020603050405020304" pitchFamily="18" charset="0"/>
              </a:rPr>
              <a:t> MySQL</a:t>
            </a:r>
          </a:p>
          <a:p>
            <a:pPr marL="0" lvl="0" indent="0" eaLnBrk="0" fontAlgn="base" hangingPunct="0">
              <a:lnSpc>
                <a:spcPct val="150000"/>
              </a:lnSpc>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Build Tools:</a:t>
            </a:r>
            <a:r>
              <a:rPr lang="en-US" altLang="en-US" sz="2000" dirty="0">
                <a:solidFill>
                  <a:schemeClr val="tx1"/>
                </a:solidFill>
                <a:latin typeface="Times New Roman" panose="02020603050405020304" pitchFamily="18" charset="0"/>
                <a:cs typeface="Times New Roman" panose="02020603050405020304" pitchFamily="18" charset="0"/>
              </a:rPr>
              <a:t> Maven</a:t>
            </a:r>
          </a:p>
          <a:p>
            <a:pPr marL="0" marR="0" lvl="0" indent="0" defTabSz="914400" rtl="0" eaLnBrk="0" fontAlgn="base" latinLnBrk="0" hangingPunct="0">
              <a:lnSpc>
                <a:spcPct val="100000"/>
              </a:lnSpc>
              <a:spcBef>
                <a:spcPct val="0"/>
              </a:spcBef>
              <a:spcAft>
                <a:spcPct val="0"/>
              </a:spcAft>
              <a:buClrTx/>
              <a:buSzTx/>
              <a:buNone/>
            </a:pPr>
            <a:endParaRPr lang="en-US" altLang="en-US" sz="2400" b="1" i="1" u="sng"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solidFill>
                  <a:srgbClr val="0C0C0C"/>
                </a:solidFill>
                <a:latin typeface="Times New Roman" panose="02020603050405020304"/>
                <a:ea typeface="Times New Roman" panose="02020603050405020304"/>
                <a:cs typeface="Times New Roman" panose="02020603050405020304"/>
                <a:sym typeface="Times New Roman" panose="02020603050405020304"/>
              </a:rPr>
              <a:t>                 </a:t>
            </a:r>
            <a:endParaRPr sz="3600" dirty="0"/>
          </a:p>
        </p:txBody>
      </p:sp>
      <p:sp>
        <p:nvSpPr>
          <p:cNvPr id="89" name="Google Shape;8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lang="en-US"/>
          </a:p>
        </p:txBody>
      </p:sp>
      <p:sp>
        <p:nvSpPr>
          <p:cNvPr id="90" name="Google Shape;90;p7"/>
          <p:cNvSpPr/>
          <p:nvPr/>
        </p:nvSpPr>
        <p:spPr>
          <a:xfrm>
            <a:off x="2991917" y="781501"/>
            <a:ext cx="316016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1" u="sng"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Future Enhancements</a:t>
            </a:r>
            <a:endParaRPr sz="2400" b="0" i="1" u="sng"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Rectangle 1">
            <a:extLst>
              <a:ext uri="{FF2B5EF4-FFF2-40B4-BE49-F238E27FC236}">
                <a16:creationId xmlns:a16="http://schemas.microsoft.com/office/drawing/2014/main" id="{8ECEA76A-D1FA-1CDF-B828-7BC10E9F2686}"/>
              </a:ext>
            </a:extLst>
          </p:cNvPr>
          <p:cNvSpPr>
            <a:spLocks noChangeArrowheads="1"/>
          </p:cNvSpPr>
          <p:nvPr/>
        </p:nvSpPr>
        <p:spPr bwMode="auto">
          <a:xfrm>
            <a:off x="0" y="1186426"/>
            <a:ext cx="8878529"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Mobile Apps</a:t>
            </a:r>
            <a:r>
              <a:rPr kumimoji="0" lang="en-US" altLang="en-US" sz="1800" b="0" i="0" u="none" strike="noStrike" cap="none" normalizeH="0" baseline="0" dirty="0">
                <a:ln>
                  <a:noFill/>
                </a:ln>
                <a:solidFill>
                  <a:schemeClr val="tx1"/>
                </a:solidFill>
                <a:effectLst/>
                <a:latin typeface="Arial" panose="020B0604020202020204" pitchFamily="34" charset="0"/>
              </a:rPr>
              <a:t> – Android &amp; iOS apps with notifications, GPS, biometric login.</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Payment Integration</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Razorpay</a:t>
            </a:r>
            <a:r>
              <a:rPr kumimoji="0" lang="en-US" altLang="en-US" sz="1800" b="0" i="0" u="none" strike="noStrike" cap="none" normalizeH="0" baseline="0" dirty="0">
                <a:ln>
                  <a:noFill/>
                </a:ln>
                <a:solidFill>
                  <a:schemeClr val="tx1"/>
                </a:solidFill>
                <a:effectLst/>
                <a:latin typeface="Arial" panose="020B0604020202020204" pitchFamily="34" charset="0"/>
              </a:rPr>
              <a:t>/Stripe/PayPal, UPI, digital wallets, auto-billing.</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Features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WebSockets</a:t>
            </a:r>
            <a:r>
              <a:rPr kumimoji="0" lang="en-US" altLang="en-US" sz="1800" b="0" i="0" u="none" strike="noStrike" cap="none" normalizeH="0" baseline="0" dirty="0">
                <a:ln>
                  <a:noFill/>
                </a:ln>
                <a:solidFill>
                  <a:schemeClr val="tx1"/>
                </a:solidFill>
                <a:effectLst/>
                <a:latin typeface="Arial" panose="020B0604020202020204" pitchFamily="34" charset="0"/>
              </a:rPr>
              <a:t>/Firebase for instant updates, live chat, video consults.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AI/ML Features</a:t>
            </a:r>
            <a:r>
              <a:rPr kumimoji="0" lang="en-US" altLang="en-US" sz="1800" b="0" i="0" u="none" strike="noStrike" cap="none" normalizeH="0" baseline="0" dirty="0">
                <a:ln>
                  <a:noFill/>
                </a:ln>
                <a:solidFill>
                  <a:schemeClr val="tx1"/>
                </a:solidFill>
                <a:effectLst/>
                <a:latin typeface="Arial" panose="020B0604020202020204" pitchFamily="34" charset="0"/>
              </a:rPr>
              <a:t> – Predictive scheduling, reminders, chatbots, analytics, smart triaging.</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Advanced Clinic/Admin Tools</a:t>
            </a:r>
            <a:r>
              <a:rPr kumimoji="0" lang="en-US" altLang="en-US" sz="1800" b="0" i="0" u="none" strike="noStrike" cap="none" normalizeH="0" baseline="0" dirty="0">
                <a:ln>
                  <a:noFill/>
                </a:ln>
                <a:solidFill>
                  <a:schemeClr val="tx1"/>
                </a:solidFill>
                <a:effectLst/>
                <a:latin typeface="Arial" panose="020B0604020202020204" pitchFamily="34" charset="0"/>
              </a:rPr>
              <a:t> – Multi-department management, staff &amp; inventory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tracking, advanced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Telemedicine</a:t>
            </a:r>
            <a:r>
              <a:rPr kumimoji="0" lang="en-US" altLang="en-US" sz="1800" b="0" i="0" u="none" strike="noStrike" cap="none" normalizeH="0" baseline="0" dirty="0">
                <a:ln>
                  <a:noFill/>
                </a:ln>
                <a:solidFill>
                  <a:schemeClr val="tx1"/>
                </a:solidFill>
                <a:effectLst/>
                <a:latin typeface="Arial" panose="020B0604020202020204" pitchFamily="34" charset="0"/>
              </a:rPr>
              <a:t> – Video consultations, remote monitoring, wearable integration.</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Subscriptions &amp; Loyalty</a:t>
            </a:r>
            <a:r>
              <a:rPr kumimoji="0" lang="en-US" altLang="en-US" sz="1800" b="0" i="0" u="none" strike="noStrike" cap="none" normalizeH="0" baseline="0" dirty="0">
                <a:ln>
                  <a:noFill/>
                </a:ln>
                <a:solidFill>
                  <a:schemeClr val="tx1"/>
                </a:solidFill>
                <a:effectLst/>
                <a:latin typeface="Arial" panose="020B0604020202020204" pitchFamily="34" charset="0"/>
              </a:rPr>
              <a:t> – Premium packages, health checkup plans, reward points.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Infrastructure &amp; DevOps</a:t>
            </a:r>
            <a:r>
              <a:rPr kumimoji="0" lang="en-US" altLang="en-US" sz="1800" b="0" i="0" u="none" strike="noStrike" cap="none" normalizeH="0" baseline="0" dirty="0">
                <a:ln>
                  <a:noFill/>
                </a:ln>
                <a:solidFill>
                  <a:schemeClr val="tx1"/>
                </a:solidFill>
                <a:effectLst/>
                <a:latin typeface="Arial" panose="020B0604020202020204" pitchFamily="34" charset="0"/>
              </a:rPr>
              <a:t> – Cloud-native (Kubernetes, CI/CD, auto-scaling, monitoring).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lang="en-US"/>
          </a:p>
        </p:txBody>
      </p:sp>
      <p:sp>
        <p:nvSpPr>
          <p:cNvPr id="120" name="Google Shape;120;p11"/>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panose="020B0604020202020204"/>
              <a:buNone/>
            </a:pPr>
            <a:r>
              <a:rPr lang="en-US" sz="11500" b="1" i="0" u="none" strike="noStrike" cap="none">
                <a:solidFill>
                  <a:srgbClr val="D6E3BC"/>
                </a:solidFill>
                <a:latin typeface="Arial" panose="020B0604020202020204"/>
                <a:ea typeface="Arial" panose="020B0604020202020204"/>
                <a:cs typeface="Arial" panose="020B0604020202020204"/>
                <a:sym typeface="Arial" panose="020B0604020202020204"/>
              </a:rPr>
              <a:t> </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21" name="Google Shape;121;p11"/>
          <p:cNvSpPr/>
          <p:nvPr/>
        </p:nvSpPr>
        <p:spPr>
          <a:xfrm>
            <a:off x="1325045" y="21386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Code Snippets</a:t>
            </a:r>
            <a:endParaRPr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7" name="Picture 6">
            <a:extLst>
              <a:ext uri="{FF2B5EF4-FFF2-40B4-BE49-F238E27FC236}">
                <a16:creationId xmlns:a16="http://schemas.microsoft.com/office/drawing/2014/main" id="{D1438FE2-D5AE-112E-C854-4F8379343771}"/>
              </a:ext>
            </a:extLst>
          </p:cNvPr>
          <p:cNvPicPr>
            <a:picLocks noChangeAspect="1"/>
          </p:cNvPicPr>
          <p:nvPr/>
        </p:nvPicPr>
        <p:blipFill>
          <a:blip r:embed="rId3"/>
          <a:stretch>
            <a:fillRect/>
          </a:stretch>
        </p:blipFill>
        <p:spPr>
          <a:xfrm>
            <a:off x="422786" y="1078706"/>
            <a:ext cx="8121389" cy="47005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lang="en-US"/>
          </a:p>
        </p:txBody>
      </p:sp>
      <p:sp>
        <p:nvSpPr>
          <p:cNvPr id="120" name="Google Shape;120;p11"/>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panose="020B0604020202020204"/>
              <a:buNone/>
            </a:pPr>
            <a:r>
              <a:rPr lang="en-US" sz="11500" b="1" i="0" u="none" strike="noStrike" cap="none">
                <a:solidFill>
                  <a:srgbClr val="D6E3BC"/>
                </a:solidFill>
                <a:latin typeface="Arial" panose="020B0604020202020204"/>
                <a:ea typeface="Arial" panose="020B0604020202020204"/>
                <a:cs typeface="Arial" panose="020B0604020202020204"/>
                <a:sym typeface="Arial" panose="020B0604020202020204"/>
              </a:rPr>
              <a:t> </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21" name="Google Shape;121;p11"/>
          <p:cNvSpPr/>
          <p:nvPr/>
        </p:nvSpPr>
        <p:spPr>
          <a:xfrm>
            <a:off x="1325045" y="21386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Code Snippets</a:t>
            </a:r>
            <a:endParaRPr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5" name="Picture 4">
            <a:extLst>
              <a:ext uri="{FF2B5EF4-FFF2-40B4-BE49-F238E27FC236}">
                <a16:creationId xmlns:a16="http://schemas.microsoft.com/office/drawing/2014/main" id="{FFE7AF39-E05D-FEC7-C13C-AC022E88C3E0}"/>
              </a:ext>
            </a:extLst>
          </p:cNvPr>
          <p:cNvPicPr>
            <a:picLocks noChangeAspect="1"/>
          </p:cNvPicPr>
          <p:nvPr/>
        </p:nvPicPr>
        <p:blipFill>
          <a:blip r:embed="rId3"/>
          <a:stretch>
            <a:fillRect/>
          </a:stretch>
        </p:blipFill>
        <p:spPr>
          <a:xfrm>
            <a:off x="304800" y="1297858"/>
            <a:ext cx="8239375" cy="465065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Code Snippets</a:t>
            </a:r>
            <a:endParaRPr lang="en-US"/>
          </a:p>
        </p:txBody>
      </p:sp>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10</a:t>
            </a:fld>
            <a:endParaRPr lang="en-US"/>
          </a:p>
        </p:txBody>
      </p:sp>
      <p:pic>
        <p:nvPicPr>
          <p:cNvPr id="7" name="Picture 6">
            <a:extLst>
              <a:ext uri="{FF2B5EF4-FFF2-40B4-BE49-F238E27FC236}">
                <a16:creationId xmlns:a16="http://schemas.microsoft.com/office/drawing/2014/main" id="{2D31DF29-4A14-2E95-786C-3874F8F4B38D}"/>
              </a:ext>
            </a:extLst>
          </p:cNvPr>
          <p:cNvPicPr>
            <a:picLocks noChangeAspect="1"/>
          </p:cNvPicPr>
          <p:nvPr/>
        </p:nvPicPr>
        <p:blipFill>
          <a:blip r:embed="rId2"/>
          <a:stretch>
            <a:fillRect/>
          </a:stretch>
        </p:blipFill>
        <p:spPr>
          <a:xfrm>
            <a:off x="457200" y="1296987"/>
            <a:ext cx="8229600" cy="46005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11</a:t>
            </a:fld>
            <a:endParaRPr lang="en-US"/>
          </a:p>
        </p:txBody>
      </p:sp>
      <p:pic>
        <p:nvPicPr>
          <p:cNvPr id="8" name="Picture 7">
            <a:extLst>
              <a:ext uri="{FF2B5EF4-FFF2-40B4-BE49-F238E27FC236}">
                <a16:creationId xmlns:a16="http://schemas.microsoft.com/office/drawing/2014/main" id="{91254DE9-667D-2A4B-DC0D-7E886D429275}"/>
              </a:ext>
            </a:extLst>
          </p:cNvPr>
          <p:cNvPicPr>
            <a:picLocks noChangeAspect="1"/>
          </p:cNvPicPr>
          <p:nvPr/>
        </p:nvPicPr>
        <p:blipFill>
          <a:blip r:embed="rId2"/>
          <a:stretch>
            <a:fillRect/>
          </a:stretch>
        </p:blipFill>
        <p:spPr>
          <a:xfrm>
            <a:off x="344128" y="1296987"/>
            <a:ext cx="8342672" cy="47291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OUTPUT</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12</a:t>
            </a:fld>
            <a:endParaRPr lang="en-US"/>
          </a:p>
        </p:txBody>
      </p:sp>
      <p:pic>
        <p:nvPicPr>
          <p:cNvPr id="7" name="Picture 6">
            <a:extLst>
              <a:ext uri="{FF2B5EF4-FFF2-40B4-BE49-F238E27FC236}">
                <a16:creationId xmlns:a16="http://schemas.microsoft.com/office/drawing/2014/main" id="{9E4F6014-757D-556D-8404-757DB596EF85}"/>
              </a:ext>
            </a:extLst>
          </p:cNvPr>
          <p:cNvPicPr>
            <a:picLocks noChangeAspect="1"/>
          </p:cNvPicPr>
          <p:nvPr/>
        </p:nvPicPr>
        <p:blipFill>
          <a:blip r:embed="rId2"/>
          <a:stretch>
            <a:fillRect/>
          </a:stretch>
        </p:blipFill>
        <p:spPr>
          <a:xfrm>
            <a:off x="530942" y="1296988"/>
            <a:ext cx="8155858" cy="46005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13</a:t>
            </a:fld>
            <a:endParaRPr lang="en-US"/>
          </a:p>
        </p:txBody>
      </p:sp>
      <p:pic>
        <p:nvPicPr>
          <p:cNvPr id="7" name="Picture 6">
            <a:extLst>
              <a:ext uri="{FF2B5EF4-FFF2-40B4-BE49-F238E27FC236}">
                <a16:creationId xmlns:a16="http://schemas.microsoft.com/office/drawing/2014/main" id="{33288987-2A93-925A-B57F-7861EE4C20B0}"/>
              </a:ext>
            </a:extLst>
          </p:cNvPr>
          <p:cNvPicPr>
            <a:picLocks noChangeAspect="1"/>
          </p:cNvPicPr>
          <p:nvPr/>
        </p:nvPicPr>
        <p:blipFill>
          <a:blip r:embed="rId2"/>
          <a:stretch>
            <a:fillRect/>
          </a:stretch>
        </p:blipFill>
        <p:spPr>
          <a:xfrm>
            <a:off x="457200" y="1296987"/>
            <a:ext cx="8229600" cy="46680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127CD81-3001-7982-CCD2-0967CA835BD6}"/>
              </a:ext>
            </a:extLst>
          </p:cNvPr>
          <p:cNvSpPr>
            <a:spLocks noGrp="1"/>
          </p:cNvSpPr>
          <p:nvPr>
            <p:ph type="title"/>
          </p:nvPr>
        </p:nvSpPr>
        <p:spPr/>
        <p:txBody>
          <a:bodyPr/>
          <a:lstStyle/>
          <a:p>
            <a:endParaRPr lang="en-IN"/>
          </a:p>
        </p:txBody>
      </p:sp>
      <p:sp>
        <p:nvSpPr>
          <p:cNvPr id="9" name="Text Placeholder 8">
            <a:extLst>
              <a:ext uri="{FF2B5EF4-FFF2-40B4-BE49-F238E27FC236}">
                <a16:creationId xmlns:a16="http://schemas.microsoft.com/office/drawing/2014/main" id="{06F39C07-8C9A-7AAC-55E0-30322B3CE47C}"/>
              </a:ext>
            </a:extLst>
          </p:cNvPr>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14</a:t>
            </a:fld>
            <a:endParaRPr lang="en-US"/>
          </a:p>
        </p:txBody>
      </p:sp>
      <p:pic>
        <p:nvPicPr>
          <p:cNvPr id="7" name="Picture 6">
            <a:extLst>
              <a:ext uri="{FF2B5EF4-FFF2-40B4-BE49-F238E27FC236}">
                <a16:creationId xmlns:a16="http://schemas.microsoft.com/office/drawing/2014/main" id="{AD190CA4-5220-BAFC-E1CC-248410C94C1D}"/>
              </a:ext>
            </a:extLst>
          </p:cNvPr>
          <p:cNvPicPr>
            <a:picLocks noChangeAspect="1"/>
          </p:cNvPicPr>
          <p:nvPr/>
        </p:nvPicPr>
        <p:blipFill>
          <a:blip r:embed="rId2"/>
          <a:stretch>
            <a:fillRect/>
          </a:stretch>
        </p:blipFill>
        <p:spPr>
          <a:xfrm>
            <a:off x="457200" y="1371600"/>
            <a:ext cx="8229600" cy="43999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8B616-6AD9-89D8-0819-34E8062A5CD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5382087-BC38-72A1-8DA4-6B69C4DAD2D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5C5C5C-BC6A-0832-52E4-7037B9FA25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6" name="Picture 5">
            <a:extLst>
              <a:ext uri="{FF2B5EF4-FFF2-40B4-BE49-F238E27FC236}">
                <a16:creationId xmlns:a16="http://schemas.microsoft.com/office/drawing/2014/main" id="{72B8ED60-C890-018A-F413-CD95654B8C44}"/>
              </a:ext>
            </a:extLst>
          </p:cNvPr>
          <p:cNvPicPr>
            <a:picLocks noChangeAspect="1"/>
          </p:cNvPicPr>
          <p:nvPr/>
        </p:nvPicPr>
        <p:blipFill>
          <a:blip r:embed="rId2"/>
          <a:stretch>
            <a:fillRect/>
          </a:stretch>
        </p:blipFill>
        <p:spPr>
          <a:xfrm>
            <a:off x="457200" y="1296987"/>
            <a:ext cx="8229600" cy="4660900"/>
          </a:xfrm>
          <a:prstGeom prst="rect">
            <a:avLst/>
          </a:prstGeom>
        </p:spPr>
      </p:pic>
    </p:spTree>
    <p:extLst>
      <p:ext uri="{BB962C8B-B14F-4D97-AF65-F5344CB8AC3E}">
        <p14:creationId xmlns:p14="http://schemas.microsoft.com/office/powerpoint/2010/main" val="1706364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84FD3-1740-5E5E-5146-9EE847339CE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516E059-50D2-B081-1253-2AAD15B570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71ED4EB-8EEE-FB30-9F15-AE828BA6B5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6" name="Picture 5">
            <a:extLst>
              <a:ext uri="{FF2B5EF4-FFF2-40B4-BE49-F238E27FC236}">
                <a16:creationId xmlns:a16="http://schemas.microsoft.com/office/drawing/2014/main" id="{B69805EB-EE89-B258-61F0-5027DCC40005}"/>
              </a:ext>
            </a:extLst>
          </p:cNvPr>
          <p:cNvPicPr>
            <a:picLocks noChangeAspect="1"/>
          </p:cNvPicPr>
          <p:nvPr/>
        </p:nvPicPr>
        <p:blipFill>
          <a:blip r:embed="rId2"/>
          <a:stretch>
            <a:fillRect/>
          </a:stretch>
        </p:blipFill>
        <p:spPr>
          <a:xfrm>
            <a:off x="457200" y="1385489"/>
            <a:ext cx="8229600" cy="4525963"/>
          </a:xfrm>
          <a:prstGeom prst="rect">
            <a:avLst/>
          </a:prstGeom>
        </p:spPr>
      </p:pic>
    </p:spTree>
    <p:extLst>
      <p:ext uri="{BB962C8B-B14F-4D97-AF65-F5344CB8AC3E}">
        <p14:creationId xmlns:p14="http://schemas.microsoft.com/office/powerpoint/2010/main" val="908407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8232206ad3_1_0"/>
          <p:cNvSpPr txBox="1">
            <a:spLocks noGrp="1"/>
          </p:cNvSpPr>
          <p:nvPr>
            <p:ph type="body" idx="1"/>
          </p:nvPr>
        </p:nvSpPr>
        <p:spPr>
          <a:xfrm>
            <a:off x="457200" y="1040000"/>
            <a:ext cx="8229600" cy="4526100"/>
          </a:xfrm>
          <a:prstGeom prst="rect">
            <a:avLst/>
          </a:prstGeom>
        </p:spPr>
        <p:txBody>
          <a:bodyPr spcFirstLastPara="1" wrap="square" lIns="91425" tIns="45700" rIns="91425" bIns="45700" anchor="ctr" anchorCtr="0">
            <a:noAutofit/>
          </a:bodyPr>
          <a:lstStyle/>
          <a:p>
            <a:pPr marL="0" lvl="0" indent="0" algn="ctr" rtl="0">
              <a:spcBef>
                <a:spcPts val="360"/>
              </a:spcBef>
              <a:spcAft>
                <a:spcPts val="0"/>
              </a:spcAft>
              <a:buNone/>
            </a:pPr>
            <a:r>
              <a:rPr lang="en-US" sz="10100">
                <a:solidFill>
                  <a:srgbClr val="FF3300"/>
                </a:solidFill>
              </a:rPr>
              <a:t>Thank You</a:t>
            </a:r>
            <a:endParaRPr sz="10100">
              <a:solidFill>
                <a:srgbClr val="FF3300"/>
              </a:solidFill>
            </a:endParaRPr>
          </a:p>
        </p:txBody>
      </p:sp>
      <p:sp>
        <p:nvSpPr>
          <p:cNvPr id="129" name="Google Shape;129;g38232206ad3_1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panose="020B0604020202020204"/>
              <a:buNone/>
            </a:pPr>
            <a:fld id="{00000000-1234-1234-1234-123412341234}" type="slidenum">
              <a:rPr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715</Words>
  <Application>Microsoft Office PowerPoint</Application>
  <PresentationFormat>On-screen Show (4:3)</PresentationFormat>
  <Paragraphs>107</Paragraphs>
  <Slides>17</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Introduction</vt:lpstr>
      <vt:lpstr>Features</vt:lpstr>
      <vt:lpstr>Features</vt:lpstr>
      <vt:lpstr>PowerPoint Presentation</vt:lpstr>
      <vt:lpstr>                 </vt:lpstr>
      <vt:lpstr>PowerPoint Presentation</vt:lpstr>
      <vt:lpstr>PowerPoint Presentation</vt:lpstr>
      <vt:lpstr>Code Snippets</vt:lpstr>
      <vt:lpstr>PowerPoint Presentation</vt:lpstr>
      <vt:lpstr>OUTPUT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ISHAAN RAI</dc:creator>
  <cp:lastModifiedBy>Mehak Walia</cp:lastModifiedBy>
  <cp:revision>34</cp:revision>
  <dcterms:created xsi:type="dcterms:W3CDTF">2025-09-28T18:38:10Z</dcterms:created>
  <dcterms:modified xsi:type="dcterms:W3CDTF">2025-10-01T06:31:28Z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DC9B5006DD034E199D63861BF2A3202C_13</vt:lpwstr>
  </property>
  <property fmtid="{D5CDD505-2E9C-101B-9397-08002B2CF9AE}" pid="3" name="KSOProductBuildVer">
    <vt:lpwstr>1033-12.2.0.22549</vt:lpwstr>
  </property>
</Properties>
</file>